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51560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基于Stroop效应的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认知注意力自适应训练系统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84048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《脑与认知科学基础》期末项目展示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02920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王熙（2024211965）  李卓洲（2024212009）  陈其乐（2024212027）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北京邮电大学 · 智能医学工程 · 大二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0" cy="0"/>
          </a:xfrm>
          <a:prstGeom prst="line">
            <a:avLst/>
          </a:prstGeom>
          <a:noFill/>
          <a:ln w="3175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Stroop效应（Stroop, 1935）：当文字的墨水颜色与字义冲突时，</a:t>
            </a:r>
            <a:r>
              <a:rPr lang="en-US" sz="1800" b="1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命名颜色</a:t>
            </a:r>
            <a:r>
              <a:rPr 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的反应时间显著长于一致条件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本质：自动加工（阅读）与控制加工（颜色命名）的竞争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现实需求  </a:t>
            </a:r>
            <a:r>
              <a:rPr lang="en-US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ADHD儿童注意缺陷（中国患病率6.26%）/ 信息过载 / 全球脑训练市场2027年达112亿美元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市场痛点  </a:t>
            </a:r>
            <a:r>
              <a:rPr lang="en-US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现有产品难度固定 + 缺乏认知科学理论支撑 + 训练效果不可量化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0" y="1280160"/>
            <a:ext cx="4114800" cy="4937760"/>
          </a:xfrm>
          <a:prstGeom prst="roundRect">
            <a:avLst>
              <a:gd name="adj" fmla="val 2667"/>
            </a:avLst>
          </a:prstGeom>
          <a:solidFill>
            <a:srgbClr val="ECF0F1"/>
          </a:solidFill>
        </p:spPr>
      </p:sp>
      <p:sp>
        <p:nvSpPr>
          <p:cNvPr id="9" name="Text 7"/>
          <p:cNvSpPr/>
          <p:nvPr/>
        </p:nvSpPr>
        <p:spPr>
          <a:xfrm>
            <a:off x="7772400" y="1463040"/>
            <a:ext cx="356616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核心问题</a:t>
            </a:r>
            <a:endParaRPr lang="en-US" sz="2000" b="1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如何将Stroop范式从</a:t>
            </a:r>
            <a:r>
              <a:rPr lang="en-US" sz="1700" b="1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一次性测量工具</a:t>
            </a: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转变为</a:t>
            </a:r>
            <a:r>
              <a:rPr lang="en-US" sz="1700" b="1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长期自适应训练系统</a:t>
            </a: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r>
              <a:rPr lang="en-US" sz="15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经典范式做训练载体</a:t>
            </a:r>
            <a:r>
              <a:rPr lang="en-US" sz="15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自适应算法做调节引擎</a:t>
            </a:r>
            <a:r>
              <a:rPr lang="en-US" sz="15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数据可视化量化效果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理论基础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0" cy="0"/>
          </a:xfrm>
          <a:prstGeom prst="line">
            <a:avLst/>
          </a:prstGeom>
          <a:noFill/>
          <a:ln w="31750">
            <a:solidFill>
              <a:srgbClr val="3498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66160" cy="4846320"/>
          </a:xfrm>
          <a:prstGeom prst="roundRect">
            <a:avLst>
              <a:gd name="adj" fmla="val 3846"/>
            </a:avLst>
          </a:prstGeom>
          <a:solidFill>
            <a:srgbClr val="ECF0F1"/>
          </a:solidFill>
        </p:spPr>
      </p:sp>
      <p:sp>
        <p:nvSpPr>
          <p:cNvPr id="5" name="Text 3"/>
          <p:cNvSpPr/>
          <p:nvPr/>
        </p:nvSpPr>
        <p:spPr>
          <a:xfrm>
            <a:off x="548640" y="1463040"/>
            <a:ext cx="3566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Stroop效应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认知心理学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2468880"/>
            <a:ext cx="2468880" cy="0"/>
          </a:xfrm>
          <a:prstGeom prst="line">
            <a:avLst/>
          </a:prstGeom>
          <a:noFill/>
          <a:ln w="1905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34640"/>
            <a:ext cx="2834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自动加工 vs 控制加工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2834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字义干扰 &gt; 颜色命名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2834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反应时差异 = 干扰效应量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2834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认知控制的经典范式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9120" y="1280160"/>
            <a:ext cx="3566160" cy="4846320"/>
          </a:xfrm>
          <a:prstGeom prst="roundRect">
            <a:avLst>
              <a:gd name="adj" fmla="val 3846"/>
            </a:avLst>
          </a:prstGeom>
          <a:solidFill>
            <a:srgbClr val="ECF0F1"/>
          </a:solidFill>
        </p:spPr>
      </p:sp>
      <p:sp>
        <p:nvSpPr>
          <p:cNvPr id="13" name="Text 11"/>
          <p:cNvSpPr/>
          <p:nvPr/>
        </p:nvSpPr>
        <p:spPr>
          <a:xfrm>
            <a:off x="4389120" y="1463040"/>
            <a:ext cx="3566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最近发展区（ZPD）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89120" y="201168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教育心理学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2468880"/>
            <a:ext cx="2468880" cy="0"/>
          </a:xfrm>
          <a:prstGeom prst="line">
            <a:avLst/>
          </a:prstGeom>
          <a:noFill/>
          <a:ln w="19050">
            <a:solidFill>
              <a:srgbClr val="3498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834640"/>
            <a:ext cx="2834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Vygotsky, 1978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54880" y="3520440"/>
            <a:ext cx="2834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当前能力 vs 潜在发展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4206240"/>
            <a:ext cx="2834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最佳挑战区间：60-85%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4892040"/>
            <a:ext cx="2834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太难→挫败 / 太简单→无聊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0" y="1280160"/>
            <a:ext cx="3566160" cy="4846320"/>
          </a:xfrm>
          <a:prstGeom prst="roundRect">
            <a:avLst>
              <a:gd name="adj" fmla="val 3846"/>
            </a:avLst>
          </a:prstGeom>
          <a:solidFill>
            <a:srgbClr val="ECF0F1"/>
          </a:solidFill>
        </p:spPr>
      </p:sp>
      <p:sp>
        <p:nvSpPr>
          <p:cNvPr id="21" name="Text 19"/>
          <p:cNvSpPr/>
          <p:nvPr/>
        </p:nvSpPr>
        <p:spPr>
          <a:xfrm>
            <a:off x="8229600" y="1463040"/>
            <a:ext cx="3566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神经机制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0" y="201168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认知神经科学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778240" y="2468880"/>
            <a:ext cx="2468880" cy="0"/>
          </a:xfrm>
          <a:prstGeom prst="line">
            <a:avLst/>
          </a:prstGeom>
          <a:noFill/>
          <a:ln w="19050">
            <a:solidFill>
              <a:srgbClr val="3498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2834640"/>
            <a:ext cx="2834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ACC：冲突检测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95360" y="3520440"/>
            <a:ext cx="2834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dlPFC：认知控制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595360" y="4206240"/>
            <a:ext cx="2834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ACC→dlPFC 回路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95360" y="4892040"/>
            <a:ext cx="2834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训练 → 功能可塑性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系统设计：双维度自适应算法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0" cy="0"/>
          </a:xfrm>
          <a:prstGeom prst="line">
            <a:avLst/>
          </a:prstGeom>
          <a:noFill/>
          <a:ln w="3175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算法规则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每组20试次，含一致/不一致两种条件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450592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计算本组正确率 &amp; 干扰效应量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980944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连续2组正确率 &gt; 85% → 难度上调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511296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干扰比例 +5%（上限80%）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041648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呈现时间 -100ms（下限500ms）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连续2组正确率 &lt; 60% → 难度下调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5102352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 滞回机制：防止随机波动误调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0" y="1280160"/>
            <a:ext cx="4572000" cy="4846320"/>
          </a:xfrm>
          <a:prstGeom prst="roundRect">
            <a:avLst>
              <a:gd name="adj" fmla="val 2400"/>
            </a:avLst>
          </a:prstGeom>
          <a:solidFill>
            <a:srgbClr val="ECF0F1"/>
          </a:solidFill>
        </p:spPr>
      </p:sp>
      <p:sp>
        <p:nvSpPr>
          <p:cNvPr id="13" name="Text 11"/>
          <p:cNvSpPr/>
          <p:nvPr/>
        </p:nvSpPr>
        <p:spPr>
          <a:xfrm>
            <a:off x="7132320" y="1463040"/>
            <a:ext cx="402336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双维度调节</a:t>
            </a:r>
            <a:endParaRPr lang="en-US" sz="2000" b="1" dirty="0">
              <a:solidFill>
                <a:srgbClr val="3498D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维度一：干扰强度（质）</a:t>
            </a:r>
            <a:endParaRPr lang="en-US" sz="1700" b="1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不一致试次比例：40% ↔ 80%</a:t>
            </a:r>
            <a:r>
              <a:rPr lang="en-US" sz="15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训练冲突处理能力</a:t>
            </a:r>
            <a:endParaRPr lang="en-US" sz="1500" dirty="0">
              <a:solidFill>
                <a:srgbClr val="7F8C8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维度二：呈现时间（量）</a:t>
            </a:r>
            <a:endParaRPr lang="en-US" sz="1700" b="1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刺激呈现时间：500ms ↔ 2000ms</a:t>
            </a:r>
            <a:r>
              <a:rPr lang="en-US" sz="15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训练加工速度</a:t>
            </a:r>
            <a:r>
              <a:rPr lang="en-US" sz="1600" b="1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两个维度同时调节</a:t>
            </a: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难度随能力增长自动攀爬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系统功能展示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0" cy="0"/>
          </a:xfrm>
          <a:prstGeom prst="line">
            <a:avLst/>
          </a:prstGeom>
          <a:noFill/>
          <a:ln w="31750">
            <a:solidFill>
              <a:srgbClr val="3498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CF0F1"/>
          </a:solidFill>
        </p:spPr>
      </p:sp>
      <p:sp>
        <p:nvSpPr>
          <p:cNvPr id="5" name="Text 3"/>
          <p:cNvSpPr/>
          <p:nvPr/>
        </p:nvSpPr>
        <p:spPr>
          <a:xfrm>
            <a:off x="548640" y="1463040"/>
            <a:ext cx="3566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🎮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Stroop训练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四色中文字符，按键1/2/3/4作答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高精度计时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CF0F1"/>
          </a:solidFill>
        </p:spPr>
      </p:sp>
      <p:sp>
        <p:nvSpPr>
          <p:cNvPr id="9" name="Text 7"/>
          <p:cNvSpPr/>
          <p:nvPr/>
        </p:nvSpPr>
        <p:spPr>
          <a:xfrm>
            <a:off x="4389120" y="1463040"/>
            <a:ext cx="3566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389120" y="2103120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自适应调节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2606040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双维度实时调整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滞回机制防抖动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13716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CF0F1"/>
          </a:solidFill>
        </p:spPr>
      </p:sp>
      <p:sp>
        <p:nvSpPr>
          <p:cNvPr id="13" name="Text 11"/>
          <p:cNvSpPr/>
          <p:nvPr/>
        </p:nvSpPr>
        <p:spPr>
          <a:xfrm>
            <a:off x="8229600" y="1463040"/>
            <a:ext cx="3566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229600" y="2103120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数据可视化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03920" y="2606040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干扰效应趋势图 + 箱线图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难度轨迹图 + 统计面板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CF0F1"/>
          </a:solidFill>
        </p:spPr>
      </p:sp>
      <p:sp>
        <p:nvSpPr>
          <p:cNvPr id="17" name="Text 15"/>
          <p:cNvSpPr/>
          <p:nvPr/>
        </p:nvSpPr>
        <p:spPr>
          <a:xfrm>
            <a:off x="548640" y="4023360"/>
            <a:ext cx="3566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📝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满意度问卷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5166360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5题Likert量表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训练后自动弹出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89120" y="393192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CF0F1"/>
          </a:solidFill>
        </p:spPr>
      </p:sp>
      <p:sp>
        <p:nvSpPr>
          <p:cNvPr id="21" name="Text 19"/>
          <p:cNvSpPr/>
          <p:nvPr/>
        </p:nvSpPr>
        <p:spPr>
          <a:xfrm>
            <a:off x="4389120" y="4023360"/>
            <a:ext cx="3566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💾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389120" y="4663440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本地存储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63440" y="5166360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localStorage纯前端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不上传服务器，保护隐私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0" y="393192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ECF0F1"/>
          </a:solidFill>
        </p:spPr>
      </p:sp>
      <p:sp>
        <p:nvSpPr>
          <p:cNvPr id="25" name="Text 23"/>
          <p:cNvSpPr/>
          <p:nvPr/>
        </p:nvSpPr>
        <p:spPr>
          <a:xfrm>
            <a:off x="8229600" y="4023360"/>
            <a:ext cx="3566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📥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8229600" y="4663440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数据导出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503920" y="5166360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CSV格式含mode列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区分实验组/对照组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实验设计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0" cy="0"/>
          </a:xfrm>
          <a:prstGeom prst="line">
            <a:avLst/>
          </a:prstGeom>
          <a:noFill/>
          <a:ln w="31750">
            <a:solidFill>
              <a:srgbClr val="3498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5029200" cy="3840480"/>
          </a:xfrm>
          <a:prstGeom prst="roundRect">
            <a:avLst>
              <a:gd name="adj" fmla="val 2857"/>
            </a:avLst>
          </a:prstGeom>
          <a:solidFill>
            <a:srgbClr val="E8F5E9"/>
          </a:solidFill>
        </p:spPr>
      </p:sp>
      <p:sp>
        <p:nvSpPr>
          <p:cNvPr id="5" name="Text 3"/>
          <p:cNvSpPr/>
          <p:nvPr/>
        </p:nvSpPr>
        <p:spPr>
          <a:xfrm>
            <a:off x="1005840" y="1645920"/>
            <a:ext cx="4480560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7AE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🧠 实验组（自适应）</a:t>
            </a:r>
            <a:endParaRPr lang="en-US" sz="2200" b="1" dirty="0">
              <a:solidFill>
                <a:srgbClr val="27AE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n ≈ 15</a:t>
            </a:r>
            <a:endParaRPr lang="en-US" sz="17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自适应难度训练</a:t>
            </a:r>
            <a:endParaRPr lang="en-US" sz="17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干扰比例 50%→80% 动态爬升</a:t>
            </a:r>
            <a:endParaRPr lang="en-US" sz="17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呈现时间 1500ms→500ms</a:t>
            </a:r>
            <a:endParaRPr lang="en-US" sz="17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每天1次 × 5组 × 7天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0" y="1463040"/>
            <a:ext cx="5029200" cy="3840480"/>
          </a:xfrm>
          <a:prstGeom prst="roundRect">
            <a:avLst>
              <a:gd name="adj" fmla="val 2857"/>
            </a:avLst>
          </a:prstGeom>
          <a:solidFill>
            <a:srgbClr val="FDECEA"/>
          </a:solidFill>
        </p:spPr>
      </p:sp>
      <p:sp>
        <p:nvSpPr>
          <p:cNvPr id="7" name="Text 5"/>
          <p:cNvSpPr/>
          <p:nvPr/>
        </p:nvSpPr>
        <p:spPr>
          <a:xfrm>
            <a:off x="6675120" y="1645920"/>
            <a:ext cx="4480560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📌 对照组（固定难度）</a:t>
            </a:r>
            <a:endParaRPr lang="en-US" sz="2200" b="1" dirty="0">
              <a:solidFill>
                <a:srgbClr val="E74C3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n ≈ 15</a:t>
            </a:r>
            <a:endParaRPr lang="en-US" sz="17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固定中等难度训练</a:t>
            </a:r>
            <a:endParaRPr lang="en-US" sz="17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干扰比例始终 50%</a:t>
            </a:r>
            <a:endParaRPr lang="en-US" sz="17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呈现时间始终 1500ms</a:t>
            </a:r>
            <a:endParaRPr lang="en-US" sz="17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每天1次 × 5组 × 7天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548640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评估指标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干扰效应降低率    ② 反应时变化趋势    ③ 训练坚持率    ④ 主观满意度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★ 初步实验结果（10次训练 · 真实数据）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0" cy="0"/>
          </a:xfrm>
          <a:prstGeom prst="line">
            <a:avLst/>
          </a:prstGeom>
          <a:noFill/>
          <a:ln w="31750">
            <a:solidFill>
              <a:srgbClr val="3498D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731520" y="1280160"/>
          <a:ext cx="10515600" cy="2514600"/>
        </p:xfrm>
        <a:graphic>
          <a:graphicData uri="http://schemas.openxmlformats.org/drawingml/2006/table">
            <a:tbl>
              <a:tblPr/>
              <a:tblGrid>
                <a:gridCol w="3657600"/>
                <a:gridCol w="228600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指标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首次训练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末次训练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变化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平均反应时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744 ms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427 ms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↓ 42.6%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干扰效应量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~138 ms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~23 ms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↓ 83%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干扰比例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50%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80%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67E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↑ 30pp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呈现时间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1500 ms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500 ms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67E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↓ 67%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4114800"/>
            <a:ext cx="10515600" cy="2377440"/>
          </a:xfrm>
          <a:prstGeom prst="roundRect">
            <a:avLst>
              <a:gd name="adj" fmla="val 4615"/>
            </a:avLst>
          </a:prstGeom>
          <a:solidFill>
            <a:srgbClr val="ECF0F1"/>
          </a:solidFill>
        </p:spPr>
      </p:sp>
      <p:sp>
        <p:nvSpPr>
          <p:cNvPr id="6" name="Text 3"/>
          <p:cNvSpPr/>
          <p:nvPr/>
        </p:nvSpPr>
        <p:spPr>
          <a:xfrm>
            <a:off x="1005840" y="4297680"/>
            <a:ext cx="9966960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关键发现</a:t>
            </a:r>
            <a:endParaRPr lang="en-US" sz="2000" b="1" dirty="0">
              <a:solidFill>
                <a:srgbClr val="3498D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反应时下降43% 且正确率维持95%+ —— 速度提升不以牺牲准确性为代价</a:t>
            </a:r>
            <a:endParaRPr lang="en-US" sz="16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干扰效应下降83% —— Stroop抑制能力在训练中得到增强</a:t>
            </a:r>
            <a:endParaRPr lang="en-US" sz="16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难度从50%/1500ms 自动攀爬至80%/500ms —— 自适应算法运行良好</a:t>
            </a:r>
            <a:endParaRPr lang="en-US" sz="16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累计230+试次，10次训练，数据完整可复现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难度调节轨迹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0" cy="0"/>
          </a:xfrm>
          <a:prstGeom prst="line">
            <a:avLst/>
          </a:prstGeom>
          <a:noFill/>
          <a:ln w="31750">
            <a:solidFill>
              <a:srgbClr val="3498DB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731520" y="1463040"/>
          <a:ext cx="1234440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645920"/>
                <a:gridCol w="1371600"/>
                <a:gridCol w="1645920"/>
                <a:gridCol w="1645920"/>
                <a:gridCol w="1371600"/>
                <a:gridCol w="146304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训练次数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1-4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strike="sngStrike" dirty="0">
                          <a:solidFill>
                            <a:srgbClr val="7F8C8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74C3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74C3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干扰比例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50%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55-65%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strike="sngStrike" dirty="0">
                          <a:solidFill>
                            <a:srgbClr val="7F8C8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50%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55-65%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70-80%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74C3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80%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74C3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80%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呈现时间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1500ms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1400-1200ms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strike="sngStrike" dirty="0">
                          <a:solidFill>
                            <a:srgbClr val="7F8C8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1500ms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1400-1200ms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1100-800ms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74C3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700ms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E74C3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700-500ms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65760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灰色删除线 = 新会话从初始值重新开始   红色 = 高强度难度区间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4389120"/>
            <a:ext cx="10515600" cy="2011680"/>
          </a:xfrm>
          <a:prstGeom prst="roundRect">
            <a:avLst>
              <a:gd name="adj" fmla="val 5455"/>
            </a:avLst>
          </a:prstGeom>
          <a:solidFill>
            <a:srgbClr val="ECF0F1"/>
          </a:solidFill>
        </p:spPr>
      </p:sp>
      <p:sp>
        <p:nvSpPr>
          <p:cNvPr id="7" name="Text 4"/>
          <p:cNvSpPr/>
          <p:nvPr/>
        </p:nvSpPr>
        <p:spPr>
          <a:xfrm>
            <a:off x="1005840" y="4572000"/>
            <a:ext cx="996696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难度攀爬节奏</a:t>
            </a:r>
            <a:endParaRPr lang="en-US" sz="1800" b="1" dirty="0">
              <a:solidFill>
                <a:srgbClr val="3498D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前4次：难度恒定50%/1500ms（算法bug已修复，现已支持跨会话继承）</a:t>
            </a:r>
            <a:endParaRPr lang="en-US" sz="15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第5-8次：难度逐次攀升，每次上调约5% + 减少100ms</a:t>
            </a:r>
            <a:endParaRPr lang="en-US" sz="15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第9-10次：稳定在80%干扰，呈现时间继续压缩至500ms极限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个性化验证：难度是我的「最近发展区」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0" cy="0"/>
          </a:xfrm>
          <a:prstGeom prst="line">
            <a:avLst/>
          </a:prstGeom>
          <a:noFill/>
          <a:ln w="31750">
            <a:solidFill>
              <a:srgbClr val="3498DB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8640" y="1371600"/>
          <a:ext cx="10972800" cy="315468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57200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对比维度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开发者本人（王熙）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室友（未训练者）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训练经验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已完成9次训练（~200试次）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0次训练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测试难度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80%干扰 / 500ms呈现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80%干扰 / 500ms呈现（同一难度）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正确率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95%+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74C3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30%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结论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7AE6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处于最近发展区 · 有挑战但不挫败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74C3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远超当前能力 · 认知负荷过高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10972800" cy="2011680"/>
          </a:xfrm>
          <a:prstGeom prst="roundRect">
            <a:avLst>
              <a:gd name="adj" fmla="val 5455"/>
            </a:avLst>
          </a:prstGeom>
          <a:solidFill>
            <a:srgbClr val="ECF0F1"/>
          </a:solidFill>
        </p:spPr>
      </p:sp>
      <p:sp>
        <p:nvSpPr>
          <p:cNvPr id="6" name="Text 3"/>
          <p:cNvSpPr/>
          <p:nvPr/>
        </p:nvSpPr>
        <p:spPr>
          <a:xfrm>
            <a:off x="822960" y="4754880"/>
            <a:ext cx="1042416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这意味着什么？</a:t>
            </a:r>
            <a:endParaRPr lang="en-US" sz="2000" b="1" dirty="0">
              <a:solidFill>
                <a:srgbClr val="3498D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🎯 自适应算法将难度个性化调节到了专属「最近发展区」</a:t>
            </a:r>
            <a:endParaRPr lang="en-US" sz="1700" b="1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🔬 同一难度对训练者 = 最佳挑战，对未训练者 = 不可能的任务</a:t>
            </a:r>
            <a:endParaRPr lang="en-US" sz="17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📊 证明系统不是「一刀切」，而是根据个人能力动态调整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技术架构与创新点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0" cy="0"/>
          </a:xfrm>
          <a:prstGeom prst="line">
            <a:avLst/>
          </a:prstGeom>
          <a:noFill/>
          <a:ln w="31750">
            <a:solidFill>
              <a:srgbClr val="3498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303520" cy="4846320"/>
          </a:xfrm>
          <a:prstGeom prst="roundRect">
            <a:avLst>
              <a:gd name="adj" fmla="val 2264"/>
            </a:avLst>
          </a:prstGeom>
          <a:solidFill>
            <a:srgbClr val="ECF0F1"/>
          </a:solidFill>
        </p:spPr>
      </p:sp>
      <p:sp>
        <p:nvSpPr>
          <p:cNvPr id="5" name="Text 3"/>
          <p:cNvSpPr/>
          <p:nvPr/>
        </p:nvSpPr>
        <p:spPr>
          <a:xfrm>
            <a:off x="822960" y="1463040"/>
            <a:ext cx="475488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技术栈（零服务器架构）</a:t>
            </a:r>
            <a:endParaRPr lang="en-US" sz="2000" b="1" dirty="0">
              <a:solidFill>
                <a:srgbClr val="3498D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HTML5 + CSS3：响应式界面</a:t>
            </a:r>
            <a:endParaRPr lang="en-US" sz="16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原生JavaScript：零依赖，单文件</a:t>
            </a:r>
            <a:endParaRPr lang="en-US" sz="16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Canvas API：三张数据图表</a:t>
            </a:r>
            <a:endParaRPr lang="en-US" sz="16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localStorage：数据本地存储</a:t>
            </a:r>
            <a:endParaRPr lang="en-US" sz="16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performance.now：高精度计时</a:t>
            </a:r>
            <a:endParaRPr lang="en-US" sz="16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~800行代码，浏览器即用</a:t>
            </a:r>
            <a:r>
              <a:rPr lang="en-US" sz="16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</a:t>
            </a:r>
            <a:r>
              <a:rPr lang="en-US" sz="13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github.com/wangxi886/stroop-attention-trainer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0" y="1280160"/>
            <a:ext cx="5303520" cy="4846320"/>
          </a:xfrm>
          <a:prstGeom prst="roundRect">
            <a:avLst>
              <a:gd name="adj" fmla="val 2264"/>
            </a:avLst>
          </a:prstGeom>
          <a:solidFill>
            <a:srgbClr val="F0F7FF"/>
          </a:solidFill>
        </p:spPr>
      </p:sp>
      <p:sp>
        <p:nvSpPr>
          <p:cNvPr id="7" name="Text 5"/>
          <p:cNvSpPr/>
          <p:nvPr/>
        </p:nvSpPr>
        <p:spPr>
          <a:xfrm>
            <a:off x="6675120" y="1463040"/>
            <a:ext cx="4754880" cy="4480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四大创新点</a:t>
            </a:r>
            <a:endParaRPr lang="en-US" sz="2000" b="1" dirty="0">
              <a:solidFill>
                <a:srgbClr val="3498D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❶ 范式转型</a:t>
            </a:r>
            <a:r>
              <a:rPr lang="en-US" sz="15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Stroop从测量工具 → 训练系统</a:t>
            </a:r>
            <a:endParaRPr lang="en-US" sz="1500" dirty="0">
              <a:solidFill>
                <a:srgbClr val="7F8C8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❷ 双维度自适应</a:t>
            </a:r>
            <a:r>
              <a:rPr lang="en-US" sz="15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干扰强度（质）+ 呈现时间（量）</a:t>
            </a:r>
            <a:r>
              <a:rPr lang="en-US" sz="18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❸ 滞回控制机制</a:t>
            </a:r>
            <a:r>
              <a:rPr lang="en-US" sz="15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连续2组确认，防止难度过山车</a:t>
            </a:r>
            <a:endParaRPr lang="en-US" sz="1500" dirty="0">
              <a:solidFill>
                <a:srgbClr val="7F8C8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❹ 隐私保护设计</a:t>
            </a:r>
            <a:r>
              <a:rPr lang="en-US" sz="1500" dirty="0">
                <a:solidFill>
                  <a:srgbClr val="7F8C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纯前端，数据不上传不注册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总结与展望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0" cy="0"/>
          </a:xfrm>
          <a:prstGeom prst="line">
            <a:avLst/>
          </a:prstGeom>
          <a:noFill/>
          <a:ln w="31750">
            <a:solidFill>
              <a:srgbClr val="3498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10972800" cy="2377440"/>
          </a:xfrm>
          <a:prstGeom prst="roundRect">
            <a:avLst>
              <a:gd name="adj" fmla="val 4615"/>
            </a:avLst>
          </a:prstGeom>
          <a:solidFill>
            <a:srgbClr val="E8F5E9"/>
          </a:solidFill>
        </p:spPr>
      </p:sp>
      <p:sp>
        <p:nvSpPr>
          <p:cNvPr id="5" name="Text 3"/>
          <p:cNvSpPr/>
          <p:nvPr/>
        </p:nvSpPr>
        <p:spPr>
          <a:xfrm>
            <a:off x="822960" y="1463040"/>
            <a:ext cx="10424160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7AE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已完成</a:t>
            </a:r>
            <a:endParaRPr lang="en-US" sz="2200" b="1" dirty="0">
              <a:solidFill>
                <a:srgbClr val="27AE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基于Stroop效应的自适应训练系统，开发完成并可在线使用</a:t>
            </a: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双维度自适应算法（干扰比例 + 呈现时间）+ 滞回机制</a:t>
            </a:r>
            <a:endParaRPr lang="en-US" sz="16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三张Canvas数据可视化图表 + CSV数据导出 + 实验组/对照组双模式</a:t>
            </a:r>
            <a:endParaRPr lang="en-US" sz="16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10次训练初步数据：反应时↓43% / 干扰效应↓83% / 难度50%→80%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10972800" cy="2468880"/>
          </a:xfrm>
          <a:prstGeom prst="roundRect">
            <a:avLst>
              <a:gd name="adj" fmla="val 4444"/>
            </a:avLst>
          </a:prstGeom>
          <a:solidFill>
            <a:srgbClr val="F0F7FF"/>
          </a:solidFill>
        </p:spPr>
      </p:sp>
      <p:sp>
        <p:nvSpPr>
          <p:cNvPr id="7" name="Text 5"/>
          <p:cNvSpPr/>
          <p:nvPr/>
        </p:nvSpPr>
        <p:spPr>
          <a:xfrm>
            <a:off x="822960" y="4206240"/>
            <a:ext cx="1042416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📋 待推进</a:t>
            </a:r>
            <a:endParaRPr lang="en-US" sz="2200" b="1" dirty="0">
              <a:solidFill>
                <a:srgbClr val="3498D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招募30名被试完成正式对照实验（实验组15 + 对照组15）</a:t>
            </a:r>
            <a:endParaRPr lang="en-US" sz="16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统计学检验：t检验对比两组干扰效应降低率的显著性差异</a:t>
            </a:r>
            <a:endParaRPr lang="en-US" sz="16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增加中性条件和反向Stroop条件，完善实验设计</a:t>
            </a:r>
            <a:endParaRPr lang="en-US" sz="16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接入大语言模型，实现训练后的AI反馈和建议</a:t>
            </a:r>
            <a:endParaRPr lang="en-US" sz="1600" dirty="0">
              <a:solidFill>
                <a:srgbClr val="2C3E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•发布为PWA，支持离线使用和移动端适配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谢谢！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498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GitHub: github.com/wangxi886/stroop-attention-trainer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2584</Words>
  <Application>WPS 演示</Application>
  <PresentationFormat>On-screen Show (16:9)</PresentationFormat>
  <Paragraphs>323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WPS_1648292213</cp:lastModifiedBy>
  <cp:revision>2</cp:revision>
  <dcterms:created xsi:type="dcterms:W3CDTF">2026-06-06T12:09:00Z</dcterms:created>
  <dcterms:modified xsi:type="dcterms:W3CDTF">2026-06-06T12:14:39Z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55D892F720694C9B882B85ED939BA460_12</vt:lpwstr>
  </property>
</Properties>
</file>